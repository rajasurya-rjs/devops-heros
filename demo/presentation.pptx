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Capstone1"/>
    <p:sldId id="257" r:id="rIdCapstone2"/>
    <p:sldId id="258" r:id="rIdCapstone3"/>
    <p:sldId id="259" r:id="rIdCapstone4"/>
    <p:sldId id="260" r:id="rIdCapstone5"/>
    <p:sldId id="261" r:id="rIdCapstone6"/>
    <p:sldId id="262" r:id="rIdCapstone7"/>
    <p:sldId id="263" r:id="rIdCapstone8"/>
    <p:sldId id="264" r:id="rIdCapstone9"/>
    <p:sldId id="265" r:id="rIdCapstone10"/>
    <p:sldId id="266" r:id="rIdCapstone11"/>
    <p:sldId id="267" r:id="rIdCapstone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2" Type="http://schemas.openxmlformats.org/officeDocument/2006/relationships/presProps" Target="presProps.xml"/>
<Relationship Id="rIdCapstone1" Type="http://schemas.openxmlformats.org/officeDocument/2006/relationships/slide" Target="slides/slide1.xml"/><Relationship Id="rIdCapstone2" Type="http://schemas.openxmlformats.org/officeDocument/2006/relationships/slide" Target="slides/slide2.xml"/><Relationship Id="rIdCapstone3" Type="http://schemas.openxmlformats.org/officeDocument/2006/relationships/slide" Target="slides/slide3.xml"/><Relationship Id="rIdCapstone4" Type="http://schemas.openxmlformats.org/officeDocument/2006/relationships/slide" Target="slides/slide4.xml"/><Relationship Id="rIdCapstone5" Type="http://schemas.openxmlformats.org/officeDocument/2006/relationships/slide" Target="slides/slide5.xml"/><Relationship Id="rIdCapstone6" Type="http://schemas.openxmlformats.org/officeDocument/2006/relationships/slide" Target="slides/slide6.xml"/><Relationship Id="rIdCapstone7" Type="http://schemas.openxmlformats.org/officeDocument/2006/relationships/slide" Target="slides/slide7.xml"/><Relationship Id="rIdCapstone8" Type="http://schemas.openxmlformats.org/officeDocument/2006/relationships/slide" Target="slides/slide8.xml"/><Relationship Id="rIdCapstone9" Type="http://schemas.openxmlformats.org/officeDocument/2006/relationships/slide" Target="slides/slide9.xml"/><Relationship Id="rIdCapstone10" Type="http://schemas.openxmlformats.org/officeDocument/2006/relationships/slide" Target="slides/slide10.xml"/><Relationship Id="rIdCapstone11" Type="http://schemas.openxmlformats.org/officeDocument/2006/relationships/slide" Target="slides/slide11.xml"/><Relationship Id="rIdCapstone12" Type="http://schemas.openxmlformats.org/officeDocument/2006/relationships/slide" Target="slides/slide12.xml"/></Relationships>
</file>

<file path=ppt/notesSlides/_rels/notesSlide1.xml.rels><?xml version='1.0' encoding='utf-8'?>
<ns0:Relationships xmlns:ns0="http://schemas.openxmlformats.org/package/2006/relationships"><ns0:Relationship Id="rId1" Type="http://schemas.openxmlformats.org/officeDocument/2006/relationships/slide" Target="../slides/slide1.xml"/></ns0:Relationships>
</file>

<file path=ppt/notesSlides/_rels/notesSlide2.xml.rels><?xml version='1.0' encoding='utf-8'?>
<ns0:Relationships xmlns:ns0="http://schemas.openxmlformats.org/package/2006/relationships"><ns0:Relationship Id="rId1" Type="http://schemas.openxmlformats.org/officeDocument/2006/relationships/slide" Target="../slides/slide2.xml"/></ns0:Relationships>
</file>

<file path=ppt/notesSlides/_rels/notesSlide3.xml.rels><?xml version='1.0' encoding='utf-8'?>
<ns0:Relationships xmlns:ns0="http://schemas.openxmlformats.org/package/2006/relationships"><ns0:Relationship Id="rId1" Type="http://schemas.openxmlformats.org/officeDocument/2006/relationships/slide" Target="../slides/slide3.xml"/></ns0:Relationships>
</file>

<file path=ppt/notesSlides/_rels/notesSlide4.xml.rels><?xml version='1.0' encoding='utf-8'?>
<ns0:Relationships xmlns:ns0="http://schemas.openxmlformats.org/package/2006/relationships"><ns0:Relationship Id="rId1" Type="http://schemas.openxmlformats.org/officeDocument/2006/relationships/slide" Target="../slides/slide4.xml"/></ns0:Relationships>
</file>

<file path=ppt/notesSlides/_rels/notesSlide5.xml.rels><?xml version='1.0' encoding='utf-8'?>
<ns0:Relationships xmlns:ns0="http://schemas.openxmlformats.org/package/2006/relationships"><ns0:Relationship Id="rId1" Type="http://schemas.openxmlformats.org/officeDocument/2006/relationships/slide" Target="../slides/slide5.xml"/></ns0:Relationships>
</file>

<file path=ppt/notesSlides/_rels/notesSlide6.xml.rels><?xml version='1.0' encoding='utf-8'?>
<ns0:Relationships xmlns:ns0="http://schemas.openxmlformats.org/package/2006/relationships"><ns0:Relationship Id="rId1" Type="http://schemas.openxmlformats.org/officeDocument/2006/relationships/slide" Target="../slides/slide6.xml"/></ns0:Relationships>
</file>

<file path=ppt/notesSlides/_rels/notesSlide7.xml.rels><?xml version='1.0' encoding='utf-8'?>
<ns0:Relationships xmlns:ns0="http://schemas.openxmlformats.org/package/2006/relationships"><ns0:Relationship Id="rId1" Type="http://schemas.openxmlformats.org/officeDocument/2006/relationships/slide" Target="../slides/slide7.xml"/></ns0:Relationships>
</file>

<file path=ppt/notesSlides/_rels/notesSlide8.xml.rels><?xml version='1.0' encoding='utf-8'?>
<ns0:Relationships xmlns:ns0="http://schemas.openxmlformats.org/package/2006/relationships"><ns0:Relationship Id="rId1" Type="http://schemas.openxmlformats.org/officeDocument/2006/relationships/slide" Target="../slides/slide8.xml"/></ns0:Relationships>
</file>

<file path=ppt/notesSlides/_rels/notesSlide9.xml.rels><?xml version='1.0' encoding='utf-8'?>
<ns0:Relationships xmlns:ns0="http://schemas.openxmlformats.org/package/2006/relationships"><ns0:Relationship Id="rId1" Type="http://schemas.openxmlformats.org/officeDocument/2006/relationships/slide" Target="../slides/slide9.xml"/></ns0:Relationships>
</file>

<file path=ppt/notesSlides/_rels/notesSlide10.xml.rels><?xml version='1.0' encoding='utf-8'?>
<ns0:Relationships xmlns:ns0="http://schemas.openxmlformats.org/package/2006/relationships"><ns0:Relationship Id="rId1" Type="http://schemas.openxmlformats.org/officeDocument/2006/relationships/slide" Target="../slides/slide10.xml"/></ns0:Relationships>
</file>

<file path=ppt/notesSlides/_rels/notesSlide11.xml.rels><?xml version='1.0' encoding='utf-8'?>
<ns0:Relationships xmlns:ns0="http://schemas.openxmlformats.org/package/2006/relationships"><ns0:Relationship Id="rId1" Type="http://schemas.openxmlformats.org/officeDocument/2006/relationships/slide" Target="../slides/slide11.xml"/></ns0:Relationships>
</file>

<file path=ppt/notesSlides/_rels/notesSlide12.xml.rels><?xml version='1.0' encoding='utf-8'?>
<ns0:Relationships xmlns:ns0="http://schemas.openxmlformats.org/package/2006/relationships"><ns0:Relationship Id="rId1" Type="http://schemas.openxmlformats.org/officeDocument/2006/relationships/slide" Target="../slides/slide12.xml"/></ns0: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original application domain. Present the slides first, then move to the live walkthrough. Repository: https://github.com/rajasurya-rjs/devops-heros
Source: https://github.com/rajasurya-rjs/devops-heros/tree/main/final-devops-project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 note created, edited and deleted in the live application at http://localhost:13000. Port 13000 leaves port 3000 available for Histomics.
Source: https://github.com/rajasurya-rjs/devops-heros/tree/main/final-devops-project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backend/app, frontend, backend/alembic/versions, helm, gitops/argocd, monitoring and terraform in the codebase. The frontend is HTML/JavaScript, not React.
Source: https://github.com/rajasurya-rjs/devops-heros/tree/main/final-devops-project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NGINX Ingress sends / to the frontend and /api to FastAPI. The frontend also proxies API requests. FastAPI uses PostgreSQL. Prometheus scrapes each backend Pod; Grafana queries Prometheus. Docker Compose connects the same three application tiers locally.
Source: https://github.com/rajasurya-rjs/devops-heros/tree/main/final-devops-project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/docs and show the API routes. Run the API verifier. Query TABLE notes and TABLE alembic_version in PostgreSQL. Explain that readiness differs from process health.
Source: https://github.com/rajasurya-rjs/devops-heros/tree/main/final-devops-project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pytest -v. Explain fresh migrated temporary SQLite storage and notes_test PostgreSQL storage. Show both Trivy outputs in the successful pipeline. A clean scan means no matching findings at selected severities at scan time. Seven exact Session 12 classroom-password findings are reviewed and documented; AWS credentials are never committed.
Source: https://github.com/rajasurya-rjs/devops-heros/tree/main/final-devops-project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Trigger a real push during the recording and wait for the full pipeline. Show the source SHA, GHCR package tags and deployment logs. Existing verified run: https://github.com/rajasurya-rjs/devops-heros/actions/runs/38118796168. GitOps configuration promotion is shown separately from the image build.
Source: https://github.com/rajasurya-rjs/devops-heros/tree/main/final-devops-project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Terraform plan/apply evidence and real AWS Console VPC/EKS pages. Refresh cloud proof after authentication. Never claim the saved destroy plan removed resources. Keep resources for the live recording only if the user chooses to; follow the zero out-of-pocket rule. Terraform state is private and not committed.
Source: https://github.com/rajasurya-rjs/devops-heros/tree/main/final-devops-project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kubectl get pods,deploy,svc,pvc,hpa,ingress -n project-three-tier and helm list -n project-three-tier. Open the app through the Ingress hostname. Explain that Helm renders the application objects and Argo CD reconciles Git configuration.
Source: https://github.com/rajasurya-rjs/devops-heros/tree/main/final-devops-project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operations-notes as Synced and Healthy in Argo CD. Change appTitle in gitops/argocd/values-eks.yaml, commit and push, then show the Git revision and live title changing. Image revision remains separately identified by appVersion. Restore the original title in Git afterwards. Official setup: https://argo-cd.readthedocs.io/en/stable/getting_started/
Source: https://github.com/rajasurya-rjs/devops-heros/tree/main/final-devops-project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http://localhost:39091/targets and http://localhost:33001. Run the bounded load generator against the app. Show the latency or HTTP request panel populated by real traffic. The deliberate unavailable target is an alert drill; the application targets must be UP.
Source: https://github.com/rajasurya-rjs/devops-heros/tree/main/final-devops-project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 one real issue: migrations adopting existing notes, competing GitOps controllers, non-root images, or Ingress routing. End by showing the repository, the evidence checklist and the presentation. The student records and uploads demo/walkthrough.mp4 or a GitHub release asset; a script cannot replace the mandatory video.
Source: https://github.com/rajasurya-rjs/devops-heros/tree/main/final-devops-project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/><ns0:Relationship Id="rIdNotes" Type="http://schemas.openxmlformats.org/officeDocument/2006/relationships/notesSlide" Target="../notesSlides/notesSlide1.xml"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/><ns0:Relationship Id="rIdNotes" Type="http://schemas.openxmlformats.org/officeDocument/2006/relationships/notesSlide" Target="../notesSlides/notesSlide2.xml"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/><ns0:Relationship Id="rIdNotes" Type="http://schemas.openxmlformats.org/officeDocument/2006/relationships/notesSlide" Target="../notesSlides/notesSlide3.xml"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/><ns0:Relationship Id="rIdNotes" Type="http://schemas.openxmlformats.org/officeDocument/2006/relationships/notesSlide" Target="../notesSlides/notesSlide4.xml"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/><ns0:Relationship Id="rIdNotes" Type="http://schemas.openxmlformats.org/officeDocument/2006/relationships/notesSlide" Target="../notesSlides/notesSlide5.xml"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/><ns0:Relationship Id="rIdNotes" Type="http://schemas.openxmlformats.org/officeDocument/2006/relationships/notesSlide" Target="../notesSlides/notesSlide6.xml"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/><ns0:Relationship Id="rIdNotes" Type="http://schemas.openxmlformats.org/officeDocument/2006/relationships/notesSlide" Target="../notesSlides/notesSlide7.xml"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/><ns0:Relationship Id="rIdNotes" Type="http://schemas.openxmlformats.org/officeDocument/2006/relationships/notesSlide" Target="../notesSlides/notesSlide8.xml"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/><ns0:Relationship Id="rIdNotes" Type="http://schemas.openxmlformats.org/officeDocument/2006/relationships/notesSlide" Target="../notesSlides/notesSlide9.xml"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/><ns0:Relationship Id="rIdNotes" Type="http://schemas.openxmlformats.org/officeDocument/2006/relationships/notesSlide" Target="../notesSlides/notesSlide10.xml"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/><ns0:Relationship Id="rIdNotes" Type="http://schemas.openxmlformats.org/officeDocument/2006/relationships/notesSlide" Target="../notesSlides/notesSlide11.xml"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/><ns0:Relationship Id="rIdNotes" Type="http://schemas.openxmlformats.org/officeDocument/2006/relationships/notesSlide" Target="../notesSlides/notesSlide12.xml"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44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Operations Notes</a:t>
            </a:r>
            <a:endParaRPr lang="en-IN" sz="44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576000" y="2160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Deployment checks and incident fixes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Rajasurya J · 24BCS10086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Session 21 — Final DevOps Capstone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Project overview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Create, list, read, edit and delete deployment notes.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 responsive browser frontend calls a FastAPI backend.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PostgreSQL stores notes; Alembic manages the schema.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The DevOps workflow tests, scans, releases and monitors the app.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Tech stack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Application: HTML / JavaScript, Vite, NGINX, Python and FastAPI.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Data and tests: PostgreSQL, SQLAlchemy, Alembic and pytest.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Delivery: GitHub Actions, Docker, GHCR, Helm and Argo CD.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Infrastructure and metrics: Terraform, AWS EKS, Prometheus and Grafana.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Application architecture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0" name="Architecture 10"/>
          <p:cNvSpPr txBox="1"/>
          <p:nvPr/>
        </p:nvSpPr>
        <p:spPr>
          <a:xfrm>
            <a:off x="576000" y="2050000"/>
            <a:ext cx="1770000" cy="1030000"/>
          </a:xfrm>
          <a:solidFill>
            <a:srgbClr val="EDF3F8"/>
          </a:solidFill>
          <a:ln w="19050">
            <a:solidFill>
              <a:srgbClr val="365F88"/>
            </a:solidFill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0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Browser</a:t>
            </a:r>
            <a:endParaRPr lang="en-IN" sz="20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1" name="Architecture 11"/>
          <p:cNvSpPr txBox="1"/>
          <p:nvPr/>
        </p:nvSpPr>
        <p:spPr>
          <a:xfrm>
            <a:off x="2910000" y="2050000"/>
            <a:ext cx="1770000" cy="1030000"/>
          </a:xfrm>
          <a:solidFill>
            <a:srgbClr val="EDF3F8"/>
          </a:solidFill>
          <a:ln w="19050">
            <a:solidFill>
              <a:srgbClr val="365F88"/>
            </a:solidFill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0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NGINX</a:t>
            </a:r>
            <a:endParaRPr lang="en-IN" sz="20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 algn="ctr">
              <a:spcAft>
                <a:spcPts val="0"/>
              </a:spcAft>
            </a:pPr>
            <a:r>
              <a:rPr lang="en-IN" sz="20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Ingress</a:t>
            </a:r>
            <a:endParaRPr lang="en-IN" sz="20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2" name="Architecture 12"/>
          <p:cNvSpPr txBox="1"/>
          <p:nvPr/>
        </p:nvSpPr>
        <p:spPr>
          <a:xfrm>
            <a:off x="5240000" y="2050000"/>
            <a:ext cx="1770000" cy="1030000"/>
          </a:xfrm>
          <a:solidFill>
            <a:srgbClr val="EDF3F8"/>
          </a:solidFill>
          <a:ln w="19050">
            <a:solidFill>
              <a:srgbClr val="365F88"/>
            </a:solidFill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0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Frontend</a:t>
            </a:r>
            <a:endParaRPr lang="en-IN" sz="20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 algn="ctr">
              <a:spcAft>
                <a:spcPts val="0"/>
              </a:spcAft>
            </a:pPr>
            <a:r>
              <a:rPr lang="en-IN" sz="20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Vite + NGINX</a:t>
            </a:r>
            <a:endParaRPr lang="en-IN" sz="20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3" name="Architecture 13"/>
          <p:cNvSpPr txBox="1"/>
          <p:nvPr/>
        </p:nvSpPr>
        <p:spPr>
          <a:xfrm>
            <a:off x="7570000" y="2050000"/>
            <a:ext cx="1770000" cy="1030000"/>
          </a:xfrm>
          <a:solidFill>
            <a:srgbClr val="EDF3F8"/>
          </a:solidFill>
          <a:ln w="19050">
            <a:solidFill>
              <a:srgbClr val="365F88"/>
            </a:solidFill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0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Backend</a:t>
            </a:r>
            <a:endParaRPr lang="en-IN" sz="20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 algn="ctr">
              <a:spcAft>
                <a:spcPts val="0"/>
              </a:spcAft>
            </a:pPr>
            <a:r>
              <a:rPr lang="en-IN" sz="20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FastAPI</a:t>
            </a:r>
            <a:endParaRPr lang="en-IN" sz="20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4" name="Architecture 14"/>
          <p:cNvSpPr txBox="1"/>
          <p:nvPr/>
        </p:nvSpPr>
        <p:spPr>
          <a:xfrm>
            <a:off x="9900000" y="2050000"/>
            <a:ext cx="1770000" cy="1030000"/>
          </a:xfrm>
          <a:solidFill>
            <a:srgbClr val="EDF3F8"/>
          </a:solidFill>
          <a:ln w="19050">
            <a:solidFill>
              <a:srgbClr val="365F88"/>
            </a:solidFill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0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PostgreSQL</a:t>
            </a:r>
            <a:endParaRPr lang="en-IN" sz="20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 algn="ctr">
              <a:spcAft>
                <a:spcPts val="0"/>
              </a:spcAft>
            </a:pPr>
            <a:r>
              <a:rPr lang="en-IN" sz="20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Alembic</a:t>
            </a:r>
            <a:endParaRPr lang="en-IN" sz="20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5" name="Architecture 15"/>
          <p:cNvSpPr txBox="1"/>
          <p:nvPr/>
        </p:nvSpPr>
        <p:spPr>
          <a:xfrm>
            <a:off x="2346000" y="2050000"/>
            <a:ext cx="540000" cy="1030000"/>
          </a:xfrm>
          <a:noFill/>
          <a:ln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5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→</a:t>
            </a:r>
            <a:endParaRPr lang="en-IN" sz="25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6" name="Architecture 16"/>
          <p:cNvSpPr txBox="1"/>
          <p:nvPr/>
        </p:nvSpPr>
        <p:spPr>
          <a:xfrm>
            <a:off x="4680000" y="2050000"/>
            <a:ext cx="540000" cy="1030000"/>
          </a:xfrm>
          <a:noFill/>
          <a:ln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5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→</a:t>
            </a:r>
            <a:endParaRPr lang="en-IN" sz="25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7" name="Architecture 17"/>
          <p:cNvSpPr txBox="1"/>
          <p:nvPr/>
        </p:nvSpPr>
        <p:spPr>
          <a:xfrm>
            <a:off x="7010000" y="2050000"/>
            <a:ext cx="540000" cy="1030000"/>
          </a:xfrm>
          <a:noFill/>
          <a:ln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5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→</a:t>
            </a:r>
            <a:endParaRPr lang="en-IN" sz="25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8" name="Architecture 18"/>
          <p:cNvSpPr txBox="1"/>
          <p:nvPr/>
        </p:nvSpPr>
        <p:spPr>
          <a:xfrm>
            <a:off x="9340000" y="2050000"/>
            <a:ext cx="540000" cy="1030000"/>
          </a:xfrm>
          <a:noFill/>
          <a:ln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5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→</a:t>
            </a:r>
            <a:endParaRPr lang="en-IN" sz="25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30" name="Architecture 30"/>
          <p:cNvSpPr txBox="1"/>
          <p:nvPr/>
        </p:nvSpPr>
        <p:spPr>
          <a:xfrm>
            <a:off x="2100000" y="3340000"/>
            <a:ext cx="8000000" cy="600000"/>
          </a:xfrm>
          <a:noFill/>
          <a:ln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1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/ → frontend     /api → backend</a:t>
            </a:r>
            <a:endParaRPr lang="en-IN" sz="21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31" name="Architecture 31"/>
          <p:cNvSpPr txBox="1"/>
          <p:nvPr/>
        </p:nvSpPr>
        <p:spPr>
          <a:xfrm>
            <a:off x="1500000" y="4510000"/>
            <a:ext cx="2100000" cy="900000"/>
          </a:xfrm>
          <a:solidFill>
            <a:srgbClr val="EDF3F8"/>
          </a:solidFill>
          <a:ln w="19050">
            <a:solidFill>
              <a:srgbClr val="365F88"/>
            </a:solidFill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0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Backend</a:t>
            </a:r>
            <a:endParaRPr lang="en-IN" sz="20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 algn="ctr">
              <a:spcAft>
                <a:spcPts val="0"/>
              </a:spcAft>
            </a:pPr>
            <a:r>
              <a:rPr lang="en-IN" sz="20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/metrics</a:t>
            </a:r>
            <a:endParaRPr lang="en-IN" sz="20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32" name="Architecture 32"/>
          <p:cNvSpPr txBox="1"/>
          <p:nvPr/>
        </p:nvSpPr>
        <p:spPr>
          <a:xfrm>
            <a:off x="5050000" y="4510000"/>
            <a:ext cx="2100000" cy="900000"/>
          </a:xfrm>
          <a:solidFill>
            <a:srgbClr val="EDF3F8"/>
          </a:solidFill>
          <a:ln w="19050">
            <a:solidFill>
              <a:srgbClr val="365F88"/>
            </a:solidFill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0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Prometheus</a:t>
            </a:r>
            <a:endParaRPr lang="en-IN" sz="20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33" name="Architecture 33"/>
          <p:cNvSpPr txBox="1"/>
          <p:nvPr/>
        </p:nvSpPr>
        <p:spPr>
          <a:xfrm>
            <a:off x="8600000" y="4510000"/>
            <a:ext cx="2100000" cy="900000"/>
          </a:xfrm>
          <a:solidFill>
            <a:srgbClr val="EDF3F8"/>
          </a:solidFill>
          <a:ln w="19050">
            <a:solidFill>
              <a:srgbClr val="365F88"/>
            </a:solidFill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0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Grafana</a:t>
            </a:r>
            <a:endParaRPr lang="en-IN" sz="20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34" name="Architecture 34"/>
          <p:cNvSpPr txBox="1"/>
          <p:nvPr/>
        </p:nvSpPr>
        <p:spPr>
          <a:xfrm>
            <a:off x="3600000" y="4510000"/>
            <a:ext cx="1450000" cy="900000"/>
          </a:xfrm>
          <a:noFill/>
          <a:ln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5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→</a:t>
            </a:r>
            <a:endParaRPr lang="en-IN" sz="25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35" name="Architecture 35"/>
          <p:cNvSpPr txBox="1"/>
          <p:nvPr/>
        </p:nvSpPr>
        <p:spPr>
          <a:xfrm>
            <a:off x="7150000" y="4510000"/>
            <a:ext cx="1450000" cy="900000"/>
          </a:xfrm>
          <a:noFill/>
          <a:ln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5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→</a:t>
            </a:r>
            <a:endParaRPr lang="en-IN" sz="25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36" name="Architecture 36"/>
          <p:cNvSpPr txBox="1"/>
          <p:nvPr/>
        </p:nvSpPr>
        <p:spPr>
          <a:xfrm>
            <a:off x="1150000" y="5700000"/>
            <a:ext cx="10000000" cy="650000"/>
          </a:xfrm>
          <a:noFill/>
          <a:ln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spcAft>
                <a:spcPts val="0"/>
              </a:spcAft>
            </a:pPr>
            <a:r>
              <a:rPr lang="en-IN" sz="20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Local: Docker Compose     Cluster: Helm + Argo CD</a:t>
            </a:r>
            <a:endParaRPr lang="en-IN" sz="20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API and database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GET /health checks the process; /ready checks the database.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GET, POST, PUT and DELETE implement the notes API.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Migration 0001_notes creates the notes table and records its revision.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 database PVC preserves notes across application restarts.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Testing and security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23 tests pass with SQLite and dedicated PostgreSQL test storage.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Tests cover CRUD, validation, readiness, metrics and migrations.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Bandit, pip-audit and full-history Gitleaks provide quality gates.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Trivy fails the pipeline on HIGH or CRITICAL findings in either image.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CI/CD flow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Push to main → backend tests and frontend build.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Security gates → backend and frontend Docker builds.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Trivy passes → both images pushed to GHCR with the full commit SHA.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Helm deploys to kind; CI verifies PostgreSQL and two replicas per tier.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AWS infrastructure with Terraform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Selected Region: ap-southeast-2; CLI profile: devops-homework.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Terraform defines a VPC, two public subnets and a managed EKS node group.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Provisioned 5 October; live EKS and access update verified 13 October 2026.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Verify the ACTIVE Free plan and credits; capture destroy completion after evaluation.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Kubernetes and Helm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The application namespace is project-three-tier.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Frontend and backend each run at least two replicas.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ClusterIP Services connect the tiers; PostgreSQL uses a StatefulSet and PVC.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NGINX Ingress routes / and /api; EKS hostname: notes.aws.project.local.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GitOps with Argo CD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Argo CD tracks the homework repository main branch.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It renders the Helm chart with committed EKS or local values.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Automatic sync and self-healing reconcile the application.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The previous Flux runtime is paused to prevent competing writers.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Prometheus and Grafana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GET /metrics exposes request counts, errors, latency, CPU and memory.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Prometheus discovers and scrapes each backend Pod every five seconds.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Grafana displays application metrics from the Prometheus datasource.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Generate traffic, then show UP targets and populated dashboard panels.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Key learnings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Verify API behavior and stored data, not only the homepage.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Use readiness probes and immutable image tags to identify releases.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Keep credentials private and distinguish old evidence from current execution.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Treat AWS cleanup as part of delivery; record the complete live walkthrough.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LibreOffice/26.8.0.3$MacOSX_AARCH64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cp:revision>0</cp:revision>
  <dc:subject/>
  <dc:title/>
</cp:coreProperties>
</file>